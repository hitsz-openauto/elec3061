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748"/>
  </p:normalViewPr>
  <p:slideViewPr>
    <p:cSldViewPr snapToGrid="0" snapToObjects="1">
      <p:cViewPr varScale="1">
        <p:scale>
          <a:sx n="114" d="100"/>
          <a:sy n="114" d="100"/>
        </p:scale>
        <p:origin x="71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28F052-82C9-7948-BCC1-3A88F66A8E24}"/>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A9D445B-22C1-3C45-9A8B-7F9268D626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AE007354-D0A0-A442-AA17-2A0B56C9F61F}"/>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5" name="页脚占位符 4">
            <a:extLst>
              <a:ext uri="{FF2B5EF4-FFF2-40B4-BE49-F238E27FC236}">
                <a16:creationId xmlns:a16="http://schemas.microsoft.com/office/drawing/2014/main" id="{C3822870-85E8-754C-BAA4-CC76D6F5ACC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581C8D3-BFBD-F44A-A782-C00D8EE451CB}"/>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3978054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1C2895-84F6-5343-962D-818D2062FDC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24E30AD-307D-BF40-B08D-1EAB2D30A394}"/>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A72F91D-509C-C044-A594-44BB342160AD}"/>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5" name="页脚占位符 4">
            <a:extLst>
              <a:ext uri="{FF2B5EF4-FFF2-40B4-BE49-F238E27FC236}">
                <a16:creationId xmlns:a16="http://schemas.microsoft.com/office/drawing/2014/main" id="{7E39E399-E4AF-864D-A84E-5D4BD518D47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817F429-6060-0148-926E-E628A56C00D5}"/>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2729733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CAC072-AFE6-FD4F-B5E5-655FB0C6420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4BD84B7-EEAD-6243-A413-E7B8DA75C5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B09EC8F6-9530-AC48-87E2-2CC8C8BE4192}"/>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5" name="页脚占位符 4">
            <a:extLst>
              <a:ext uri="{FF2B5EF4-FFF2-40B4-BE49-F238E27FC236}">
                <a16:creationId xmlns:a16="http://schemas.microsoft.com/office/drawing/2014/main" id="{1C4D71FD-A02F-F640-ACB2-463D200C9BC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1F51952-E954-374F-9F5A-4044E1D801FB}"/>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385860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2D2FD6-12A7-3147-8515-43A0F46A712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9B6E1D6-C6A5-6541-B357-0F9D6F69D67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693A94B2-66DE-C847-AA97-7966DDACD2F0}"/>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F8192744-C8BC-3045-B75C-ED09256E750F}"/>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6" name="页脚占位符 5">
            <a:extLst>
              <a:ext uri="{FF2B5EF4-FFF2-40B4-BE49-F238E27FC236}">
                <a16:creationId xmlns:a16="http://schemas.microsoft.com/office/drawing/2014/main" id="{3B9E236D-DF0A-9F49-8D06-B5976994AD3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4635441-4250-854C-93C2-444A80494C0D}"/>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89325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B2EB2D-3896-6640-BB9D-B9AB04B7E33C}"/>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61F59140-8EF8-4744-9103-AB66CA9C7A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B818E45-E7D7-CE4B-8FB3-1523A82FBEF3}"/>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17F6D233-C6F0-6D44-A3BF-13A6674156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AFC4569C-EEA8-0743-BA54-3C40A550A6A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B64985C-6F9E-A540-986F-983C3B2D9E63}"/>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8" name="页脚占位符 7">
            <a:extLst>
              <a:ext uri="{FF2B5EF4-FFF2-40B4-BE49-F238E27FC236}">
                <a16:creationId xmlns:a16="http://schemas.microsoft.com/office/drawing/2014/main" id="{7BA25580-AA85-F147-AC9A-0866F41B6280}"/>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D9ADA48C-9D89-8343-9CC8-19DCE01AFF89}"/>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3990791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653D55-BDE0-9B4A-8A96-705A9C1BD1B0}"/>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A0474918-8DDE-C24E-9944-911D7D6E0E2F}"/>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4" name="页脚占位符 3">
            <a:extLst>
              <a:ext uri="{FF2B5EF4-FFF2-40B4-BE49-F238E27FC236}">
                <a16:creationId xmlns:a16="http://schemas.microsoft.com/office/drawing/2014/main" id="{C05760DA-82CE-E54D-AD30-522369B406C2}"/>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1A2B56B1-C31D-BC44-A33C-A4E613DA417C}"/>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1672681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8E273CE-B725-CD4B-AD97-03583201C021}"/>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3" name="页脚占位符 2">
            <a:extLst>
              <a:ext uri="{FF2B5EF4-FFF2-40B4-BE49-F238E27FC236}">
                <a16:creationId xmlns:a16="http://schemas.microsoft.com/office/drawing/2014/main" id="{C21A72AF-94E3-E043-B64C-420278A8D4C8}"/>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3190FF0C-C056-CD4B-9F43-0624DE86C6E5}"/>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558897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A6958A-38EA-C344-A157-EC0C255E426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FC78B078-E975-1A4B-A1C8-23B7C229E5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8F3F073-B689-194C-A4D9-7B0A3D753E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1DDFAB6-1DBF-3E40-A2C1-AA5706CF1297}"/>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6" name="页脚占位符 5">
            <a:extLst>
              <a:ext uri="{FF2B5EF4-FFF2-40B4-BE49-F238E27FC236}">
                <a16:creationId xmlns:a16="http://schemas.microsoft.com/office/drawing/2014/main" id="{E2C509C3-6A3F-944D-9EDC-E6B7A5E550A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D073C56-949C-724D-BAFB-D17E23EA2486}"/>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1660855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FBA08-79FD-374C-A73B-FB4368E17A1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84BA130E-65C5-2D48-8F14-D49B93743A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95A624B0-7041-4341-882B-9EF424C7A0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A2C9996-A52D-064D-8A45-DE1D931A9280}"/>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6" name="页脚占位符 5">
            <a:extLst>
              <a:ext uri="{FF2B5EF4-FFF2-40B4-BE49-F238E27FC236}">
                <a16:creationId xmlns:a16="http://schemas.microsoft.com/office/drawing/2014/main" id="{1D085BEF-6380-964B-99B2-99D1A4DB397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AC1C164-1606-AF49-AAC4-2CF64F06EB92}"/>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20399258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441528-400B-BB4F-8ECB-AB74BF05F0E0}"/>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00451A6-C978-EB46-86B0-158BF3121A35}"/>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CA03A63-E977-1041-9431-2F323B7D2F45}"/>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5" name="页脚占位符 4">
            <a:extLst>
              <a:ext uri="{FF2B5EF4-FFF2-40B4-BE49-F238E27FC236}">
                <a16:creationId xmlns:a16="http://schemas.microsoft.com/office/drawing/2014/main" id="{5D83CF18-639D-D44F-AD79-A2253F5703D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AFC9BCD-D978-6A48-BA2B-7F6BEEB31036}"/>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1836603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257FC4A-2109-8845-BB1C-0B403AF443E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7194523-D511-1D49-9F03-F7E342A3C62B}"/>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766B112-865E-B74B-8179-B42FCE1F32FA}"/>
              </a:ext>
            </a:extLst>
          </p:cNvPr>
          <p:cNvSpPr>
            <a:spLocks noGrp="1"/>
          </p:cNvSpPr>
          <p:nvPr>
            <p:ph type="dt" sz="half" idx="10"/>
          </p:nvPr>
        </p:nvSpPr>
        <p:spPr/>
        <p:txBody>
          <a:bodyPr/>
          <a:lstStyle/>
          <a:p>
            <a:fld id="{D8C0E510-2CF9-904C-B859-A7ED0B253344}" type="datetimeFigureOut">
              <a:rPr kumimoji="1" lang="zh-CN" altLang="en-US" smtClean="0"/>
              <a:t>2024/11/28</a:t>
            </a:fld>
            <a:endParaRPr kumimoji="1" lang="zh-CN" altLang="en-US"/>
          </a:p>
        </p:txBody>
      </p:sp>
      <p:sp>
        <p:nvSpPr>
          <p:cNvPr id="5" name="页脚占位符 4">
            <a:extLst>
              <a:ext uri="{FF2B5EF4-FFF2-40B4-BE49-F238E27FC236}">
                <a16:creationId xmlns:a16="http://schemas.microsoft.com/office/drawing/2014/main" id="{EF603DF3-AABD-B345-BBF1-ABF171E2F6C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13B257C-C68D-B246-A468-074174F4EA6B}"/>
              </a:ext>
            </a:extLst>
          </p:cNvPr>
          <p:cNvSpPr>
            <a:spLocks noGrp="1"/>
          </p:cNvSpPr>
          <p:nvPr>
            <p:ph type="sldNum" sz="quarter" idx="12"/>
          </p:nvPr>
        </p:nvSpPr>
        <p:spPr/>
        <p:txBody>
          <a:body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1268678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422FD8-A48C-1A44-9461-25D0BB1B85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E2EAE5E-1489-384D-AABD-CB4F33D98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6AD10AB-C3A6-5F43-9255-3C0C5AF876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C0E510-2CF9-904C-B859-A7ED0B253344}" type="datetimeFigureOut">
              <a:rPr kumimoji="1" lang="zh-CN" altLang="en-US" smtClean="0"/>
              <a:t>2024/11/28</a:t>
            </a:fld>
            <a:endParaRPr kumimoji="1" lang="zh-CN" altLang="en-US"/>
          </a:p>
        </p:txBody>
      </p:sp>
      <p:sp>
        <p:nvSpPr>
          <p:cNvPr id="5" name="页脚占位符 4">
            <a:extLst>
              <a:ext uri="{FF2B5EF4-FFF2-40B4-BE49-F238E27FC236}">
                <a16:creationId xmlns:a16="http://schemas.microsoft.com/office/drawing/2014/main" id="{FCF49570-5149-B547-8621-C9D7E305A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A4F9EEC-BAB8-B647-9999-C2477710D9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A91F67-96E5-8949-9CE8-856D5F6428A7}" type="slidenum">
              <a:rPr kumimoji="1" lang="zh-CN" altLang="en-US" smtClean="0"/>
              <a:t>‹#›</a:t>
            </a:fld>
            <a:endParaRPr kumimoji="1" lang="zh-CN" altLang="en-US"/>
          </a:p>
        </p:txBody>
      </p:sp>
    </p:spTree>
    <p:extLst>
      <p:ext uri="{BB962C8B-B14F-4D97-AF65-F5344CB8AC3E}">
        <p14:creationId xmlns:p14="http://schemas.microsoft.com/office/powerpoint/2010/main" val="400384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94F165F-9030-1A4E-8DAB-97F6ADD1821B}"/>
              </a:ext>
            </a:extLst>
          </p:cNvPr>
          <p:cNvSpPr txBox="1"/>
          <p:nvPr/>
        </p:nvSpPr>
        <p:spPr>
          <a:xfrm>
            <a:off x="432486" y="345989"/>
            <a:ext cx="11454714" cy="2585323"/>
          </a:xfrm>
          <a:prstGeom prst="rect">
            <a:avLst/>
          </a:prstGeom>
          <a:noFill/>
        </p:spPr>
        <p:txBody>
          <a:bodyPr wrap="square" rtlCol="0">
            <a:spAutoFit/>
          </a:bodyPr>
          <a:lstStyle/>
          <a:p>
            <a:r>
              <a:rPr kumimoji="1" lang="en-US" altLang="zh-CN" b="1" dirty="0">
                <a:latin typeface="SimHei" panose="02010609060101010101" pitchFamily="49" charset="-122"/>
                <a:ea typeface="SimHei" panose="02010609060101010101" pitchFamily="49" charset="-122"/>
              </a:rPr>
              <a:t>1.</a:t>
            </a:r>
            <a:r>
              <a:rPr kumimoji="1" lang="zh-CN" altLang="en-US" b="1" dirty="0">
                <a:latin typeface="SimHei" panose="02010609060101010101" pitchFamily="49" charset="-122"/>
                <a:ea typeface="SimHei" panose="02010609060101010101" pitchFamily="49" charset="-122"/>
              </a:rPr>
              <a:t> 什么是增益饱和？均匀加宽工作物质的增益饱和与非均匀加宽工作物质的增益饱和的基本特征是什么？</a:t>
            </a:r>
            <a:endParaRPr kumimoji="1" lang="en-US" altLang="zh-CN" b="1" dirty="0">
              <a:latin typeface="SimHei" panose="02010609060101010101" pitchFamily="49" charset="-122"/>
              <a:ea typeface="SimHei" panose="02010609060101010101" pitchFamily="49" charset="-122"/>
            </a:endParaRPr>
          </a:p>
          <a:p>
            <a:endParaRPr kumimoji="1" lang="en-US" altLang="zh-CN" b="1" dirty="0">
              <a:latin typeface="SimHei" panose="02010609060101010101" pitchFamily="49" charset="-122"/>
              <a:ea typeface="SimHei" panose="02010609060101010101" pitchFamily="49" charset="-122"/>
            </a:endParaRPr>
          </a:p>
          <a:p>
            <a:endParaRPr kumimoji="1" lang="en-US" altLang="zh-CN" b="1" dirty="0">
              <a:latin typeface="SimHei" panose="02010609060101010101" pitchFamily="49" charset="-122"/>
              <a:ea typeface="SimHei" panose="02010609060101010101" pitchFamily="49" charset="-122"/>
            </a:endParaRPr>
          </a:p>
          <a:p>
            <a:endParaRPr kumimoji="1" lang="en-US" altLang="zh-CN" b="1" dirty="0">
              <a:latin typeface="SimHei" panose="02010609060101010101" pitchFamily="49" charset="-122"/>
              <a:ea typeface="SimHei" panose="02010609060101010101" pitchFamily="49" charset="-122"/>
            </a:endParaRPr>
          </a:p>
          <a:p>
            <a:endParaRPr kumimoji="1" lang="en-US" altLang="zh-CN" b="1" dirty="0">
              <a:latin typeface="SimHei" panose="02010609060101010101" pitchFamily="49" charset="-122"/>
              <a:ea typeface="SimHei" panose="02010609060101010101" pitchFamily="49" charset="-122"/>
            </a:endParaRPr>
          </a:p>
          <a:p>
            <a:r>
              <a:rPr kumimoji="1" lang="en-US" altLang="zh-CN" b="1" dirty="0">
                <a:latin typeface="SimHei" panose="02010609060101010101" pitchFamily="49" charset="-122"/>
                <a:ea typeface="SimHei" panose="02010609060101010101" pitchFamily="49" charset="-122"/>
              </a:rPr>
              <a:t>2.</a:t>
            </a:r>
            <a:r>
              <a:rPr kumimoji="1" lang="zh-CN" altLang="en-US" b="1" dirty="0">
                <a:latin typeface="SimHei" panose="02010609060101010101" pitchFamily="49" charset="-122"/>
                <a:ea typeface="SimHei" panose="02010609060101010101" pitchFamily="49" charset="-122"/>
              </a:rPr>
              <a:t> 请从物理实质上阐明：</a:t>
            </a:r>
            <a:endParaRPr kumimoji="1" lang="en-US" altLang="zh-CN" b="1" dirty="0">
              <a:latin typeface="SimHei" panose="02010609060101010101" pitchFamily="49" charset="-122"/>
              <a:ea typeface="SimHei" panose="02010609060101010101" pitchFamily="49" charset="-122"/>
            </a:endParaRPr>
          </a:p>
          <a:p>
            <a:r>
              <a:rPr kumimoji="1" lang="zh-CN" altLang="en-US" b="1" dirty="0">
                <a:latin typeface="SimHei" panose="02010609060101010101" pitchFamily="49" charset="-122"/>
                <a:ea typeface="SimHei" panose="02010609060101010101" pitchFamily="49" charset="-122"/>
              </a:rPr>
              <a:t>（</a:t>
            </a:r>
            <a:r>
              <a:rPr kumimoji="1" lang="en-US" altLang="zh-CN" b="1" dirty="0">
                <a:latin typeface="SimHei" panose="02010609060101010101" pitchFamily="49" charset="-122"/>
                <a:ea typeface="SimHei" panose="02010609060101010101" pitchFamily="49" charset="-122"/>
              </a:rPr>
              <a:t>1</a:t>
            </a:r>
            <a:r>
              <a:rPr kumimoji="1" lang="zh-CN" altLang="en-US" b="1" dirty="0">
                <a:latin typeface="SimHei" panose="02010609060101010101" pitchFamily="49" charset="-122"/>
                <a:ea typeface="SimHei" panose="02010609060101010101" pitchFamily="49" charset="-122"/>
              </a:rPr>
              <a:t>）在均匀加宽工作物质中，当入射光为中心频率时增益饱和效应最强，而频率偏离中心频率越大时饱和效应越弱。</a:t>
            </a:r>
            <a:endParaRPr kumimoji="1" lang="en-US" altLang="zh-CN" b="1" dirty="0">
              <a:latin typeface="SimHei" panose="02010609060101010101" pitchFamily="49" charset="-122"/>
              <a:ea typeface="SimHei" panose="02010609060101010101" pitchFamily="49" charset="-122"/>
            </a:endParaRPr>
          </a:p>
          <a:p>
            <a:r>
              <a:rPr kumimoji="1" lang="zh-CN" altLang="en-US" b="1" dirty="0">
                <a:latin typeface="SimHei" panose="02010609060101010101" pitchFamily="49" charset="-122"/>
                <a:ea typeface="SimHei" panose="02010609060101010101" pitchFamily="49" charset="-122"/>
              </a:rPr>
              <a:t>（</a:t>
            </a:r>
            <a:r>
              <a:rPr kumimoji="1" lang="en-US" altLang="zh-CN" b="1" dirty="0">
                <a:latin typeface="SimHei" panose="02010609060101010101" pitchFamily="49" charset="-122"/>
                <a:ea typeface="SimHei" panose="02010609060101010101" pitchFamily="49" charset="-122"/>
              </a:rPr>
              <a:t>2</a:t>
            </a:r>
            <a:r>
              <a:rPr kumimoji="1" lang="zh-CN" altLang="en-US" b="1" dirty="0">
                <a:latin typeface="SimHei" panose="02010609060101010101" pitchFamily="49" charset="-122"/>
                <a:ea typeface="SimHei" panose="02010609060101010101" pitchFamily="49" charset="-122"/>
              </a:rPr>
              <a:t>）在非均匀加宽工作物质中，增益饱和效应的强弱和入射光频率无关。</a:t>
            </a:r>
          </a:p>
        </p:txBody>
      </p:sp>
      <p:sp>
        <p:nvSpPr>
          <p:cNvPr id="2" name="文本框 1">
            <a:extLst>
              <a:ext uri="{FF2B5EF4-FFF2-40B4-BE49-F238E27FC236}">
                <a16:creationId xmlns:a16="http://schemas.microsoft.com/office/drawing/2014/main" id="{B85D46B0-9E6E-288F-5B4D-7866D6A57C21}"/>
              </a:ext>
            </a:extLst>
          </p:cNvPr>
          <p:cNvSpPr txBox="1"/>
          <p:nvPr/>
        </p:nvSpPr>
        <p:spPr>
          <a:xfrm>
            <a:off x="432486" y="3926689"/>
            <a:ext cx="11454714" cy="369332"/>
          </a:xfrm>
          <a:prstGeom prst="rect">
            <a:avLst/>
          </a:prstGeom>
          <a:noFill/>
        </p:spPr>
        <p:txBody>
          <a:bodyPr wrap="square" rtlCol="0">
            <a:spAutoFit/>
          </a:bodyPr>
          <a:lstStyle/>
          <a:p>
            <a:r>
              <a:rPr kumimoji="1" lang="en-US" altLang="zh-CN" b="1" dirty="0">
                <a:latin typeface="SimHei" panose="02010609060101010101" pitchFamily="49" charset="-122"/>
                <a:ea typeface="SimHei" panose="02010609060101010101" pitchFamily="49" charset="-122"/>
              </a:rPr>
              <a:t>3. </a:t>
            </a:r>
            <a:r>
              <a:rPr kumimoji="1" lang="zh-CN" altLang="en-US" b="1" dirty="0">
                <a:latin typeface="SimHei" panose="02010609060101010101" pitchFamily="49" charset="-122"/>
                <a:ea typeface="SimHei" panose="02010609060101010101" pitchFamily="49" charset="-122"/>
              </a:rPr>
              <a:t>为什么阈值反转粒子数密度表达式与频率有关，而阈值增益与频率无关？</a:t>
            </a:r>
            <a:endParaRPr kumimoji="1" lang="en-US" altLang="zh-CN" b="1" dirty="0">
              <a:latin typeface="SimHei" panose="02010609060101010101" pitchFamily="49" charset="-122"/>
              <a:ea typeface="SimHei" panose="02010609060101010101" pitchFamily="49" charset="-122"/>
            </a:endParaRP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B07A1773-A9C3-B52B-C4EB-EB434EE4CE70}"/>
                  </a:ext>
                </a:extLst>
              </p:cNvPr>
              <p:cNvSpPr txBox="1"/>
              <p:nvPr/>
            </p:nvSpPr>
            <p:spPr>
              <a:xfrm>
                <a:off x="432486" y="5222089"/>
                <a:ext cx="11454714" cy="947119"/>
              </a:xfrm>
              <a:prstGeom prst="rect">
                <a:avLst/>
              </a:prstGeom>
              <a:noFill/>
            </p:spPr>
            <p:txBody>
              <a:bodyPr wrap="square" rtlCol="0">
                <a:spAutoFit/>
              </a:bodyPr>
              <a:lstStyle/>
              <a:p>
                <a:r>
                  <a:rPr kumimoji="1" lang="en-US" altLang="zh-CN" b="1" dirty="0">
                    <a:latin typeface="SimHei" panose="02010609060101010101" pitchFamily="49" charset="-122"/>
                    <a:ea typeface="SimHei" panose="02010609060101010101" pitchFamily="49" charset="-122"/>
                  </a:rPr>
                  <a:t>4.</a:t>
                </a:r>
                <a:r>
                  <a:rPr kumimoji="1" lang="zh-CN" altLang="en-US" b="1" dirty="0">
                    <a:solidFill>
                      <a:schemeClr val="tx1"/>
                    </a:solidFill>
                    <a:latin typeface="SimHei" panose="02010609060101010101" pitchFamily="49" charset="-122"/>
                    <a:ea typeface="SimHei" panose="02010609060101010101" pitchFamily="49" charset="-122"/>
                  </a:rPr>
                  <a:t>  </a:t>
                </a:r>
                <a:r>
                  <a:rPr kumimoji="1" lang="zh-CN" altLang="en-US" b="1" dirty="0">
                    <a:solidFill>
                      <a:schemeClr val="tx1"/>
                    </a:solidFill>
                    <a:latin typeface="SimHei" panose="02010609060101010101" pitchFamily="49" charset="-122"/>
                    <a:ea typeface="SimHei" panose="02010609060101010101" pitchFamily="49" charset="-122"/>
                    <a:cs typeface="Times New Roman" panose="02020603050405020304" pitchFamily="18" charset="0"/>
                  </a:rPr>
                  <a:t>三能级激光介质总粒子数密度为</a:t>
                </a:r>
                <a14:m>
                  <m:oMath xmlns:m="http://schemas.openxmlformats.org/officeDocument/2006/math">
                    <m:r>
                      <a:rPr kumimoji="1" lang="en-US" altLang="zh-CN" b="1" i="1" dirty="0">
                        <a:solidFill>
                          <a:schemeClr val="tx1"/>
                        </a:solidFill>
                        <a:latin typeface="Cambria Math" panose="02040503050406030204" pitchFamily="18" charset="0"/>
                        <a:ea typeface="方正兰亭粗黑简体" panose="02000000000000000000" pitchFamily="2" charset="-122"/>
                        <a:cs typeface="Times New Roman" panose="02020603050405020304" pitchFamily="18" charset="0"/>
                      </a:rPr>
                      <m:t>𝒏</m:t>
                    </m:r>
                    <m:r>
                      <m:rPr>
                        <m:nor/>
                      </m:rPr>
                      <a:rPr kumimoji="1" lang="en-US" altLang="zh-CN" b="1" dirty="0">
                        <a:solidFill>
                          <a:schemeClr val="tx1"/>
                        </a:solidFill>
                        <a:latin typeface="Arial" panose="020B0604020202020204" pitchFamily="34" charset="0"/>
                        <a:ea typeface="SimHei" panose="02010609060101010101" pitchFamily="49" charset="-122"/>
                        <a:cs typeface="Arial" panose="020B0604020202020204" pitchFamily="34" charset="0"/>
                      </a:rPr>
                      <m:t>=5</m:t>
                    </m:r>
                    <m:r>
                      <m:rPr>
                        <m:nor/>
                      </m:rPr>
                      <a:rPr kumimoji="1" lang="en-US" altLang="zh-CN" b="1" dirty="0">
                        <a:solidFill>
                          <a:schemeClr val="tx1"/>
                        </a:solidFill>
                        <a:latin typeface="Arial" panose="020B0604020202020204" pitchFamily="34" charset="0"/>
                        <a:ea typeface="SimHei" panose="02010609060101010101" pitchFamily="49" charset="-122"/>
                        <a:cs typeface="Arial" panose="020B0604020202020204" pitchFamily="34" charset="0"/>
                        <a:sym typeface="Symbol" panose="05050102010706020507" pitchFamily="18" charset="2"/>
                      </a:rPr>
                      <m:t></m:t>
                    </m:r>
                    <m:sSup>
                      <m:sSupPr>
                        <m:ctrlP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sSupPr>
                      <m:e>
                        <m: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t>𝟏𝟎</m:t>
                        </m:r>
                      </m:e>
                      <m:sup>
                        <m: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t>𝟏𝟑</m:t>
                        </m:r>
                      </m:sup>
                    </m:sSup>
                    <m:sSup>
                      <m:sSupPr>
                        <m:ctrlP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sSupPr>
                      <m:e>
                        <m: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t>𝒎</m:t>
                        </m:r>
                      </m:e>
                      <m:sup>
                        <m: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t>𝟑</m:t>
                        </m:r>
                      </m:sup>
                    </m:sSup>
                  </m:oMath>
                </a14:m>
                <a:r>
                  <a:rPr kumimoji="1" lang="zh-CN" altLang="en-US" b="1" dirty="0">
                    <a:solidFill>
                      <a:schemeClr val="tx1"/>
                    </a:solidFill>
                    <a:latin typeface="SimHei" panose="02010609060101010101" pitchFamily="49" charset="-122"/>
                    <a:ea typeface="SimHei" panose="02010609060101010101" pitchFamily="49" charset="-122"/>
                    <a:cs typeface="Times New Roman" panose="02020603050405020304" pitchFamily="18" charset="0"/>
                  </a:rPr>
                  <a:t>，发射截面为</a:t>
                </a:r>
                <a14:m>
                  <m:oMath xmlns:m="http://schemas.openxmlformats.org/officeDocument/2006/math">
                    <m:sSub>
                      <m:sSubPr>
                        <m:ctrlPr>
                          <a:rPr lang="zh-CN" altLang="en-US" b="1" i="1">
                            <a:solidFill>
                              <a:schemeClr val="tx1"/>
                            </a:solidFill>
                            <a:latin typeface="Cambria Math" panose="02040503050406030204" pitchFamily="18" charset="0"/>
                          </a:rPr>
                        </m:ctrlPr>
                      </m:sSubPr>
                      <m:e>
                        <m:r>
                          <a:rPr lang="zh-CN" altLang="en-US" b="1" i="1">
                            <a:solidFill>
                              <a:schemeClr val="tx1"/>
                            </a:solidFill>
                            <a:latin typeface="Cambria Math" panose="02040503050406030204" pitchFamily="18" charset="0"/>
                          </a:rPr>
                          <m:t>𝝈</m:t>
                        </m:r>
                      </m:e>
                      <m:sub>
                        <m:r>
                          <a:rPr lang="zh-CN" altLang="en-US" b="1" i="1">
                            <a:solidFill>
                              <a:schemeClr val="tx1"/>
                            </a:solidFill>
                            <a:latin typeface="Cambria Math" panose="02040503050406030204" pitchFamily="18" charset="0"/>
                          </a:rPr>
                          <m:t>𝟐𝟏</m:t>
                        </m:r>
                      </m:sub>
                    </m:sSub>
                    <m:d>
                      <m:dPr>
                        <m:ctrlPr>
                          <a:rPr lang="zh-CN" altLang="en-US" b="1" i="1">
                            <a:solidFill>
                              <a:schemeClr val="tx1"/>
                            </a:solidFill>
                            <a:latin typeface="Cambria Math" panose="02040503050406030204" pitchFamily="18" charset="0"/>
                          </a:rPr>
                        </m:ctrlPr>
                      </m:dPr>
                      <m:e>
                        <m:r>
                          <a:rPr lang="zh-CN" altLang="en-US" b="1" i="1">
                            <a:solidFill>
                              <a:schemeClr val="tx1"/>
                            </a:solidFill>
                            <a:latin typeface="Cambria Math" panose="02040503050406030204" pitchFamily="18" charset="0"/>
                          </a:rPr>
                          <m:t>𝝂</m:t>
                        </m:r>
                        <m:r>
                          <a:rPr lang="zh-CN" altLang="en-US" b="1">
                            <a:solidFill>
                              <a:schemeClr val="tx1"/>
                            </a:solidFill>
                            <a:latin typeface="Cambria Math" panose="02040503050406030204" pitchFamily="18" charset="0"/>
                          </a:rPr>
                          <m:t>,</m:t>
                        </m:r>
                        <m:sSub>
                          <m:sSubPr>
                            <m:ctrlPr>
                              <a:rPr lang="zh-CN" altLang="en-US" b="1" i="1">
                                <a:solidFill>
                                  <a:schemeClr val="tx1"/>
                                </a:solidFill>
                                <a:latin typeface="Cambria Math" panose="02040503050406030204" pitchFamily="18" charset="0"/>
                              </a:rPr>
                            </m:ctrlPr>
                          </m:sSubPr>
                          <m:e>
                            <m:r>
                              <a:rPr lang="zh-CN" altLang="en-US" b="1" i="1">
                                <a:solidFill>
                                  <a:schemeClr val="tx1"/>
                                </a:solidFill>
                                <a:latin typeface="Cambria Math" panose="02040503050406030204" pitchFamily="18" charset="0"/>
                              </a:rPr>
                              <m:t>𝝂</m:t>
                            </m:r>
                          </m:e>
                          <m:sub>
                            <m:r>
                              <a:rPr lang="zh-CN" altLang="en-US" b="1" i="1">
                                <a:solidFill>
                                  <a:schemeClr val="tx1"/>
                                </a:solidFill>
                                <a:latin typeface="Cambria Math" panose="02040503050406030204" pitchFamily="18" charset="0"/>
                              </a:rPr>
                              <m:t>𝟎</m:t>
                            </m:r>
                          </m:sub>
                        </m:sSub>
                      </m:e>
                    </m:d>
                    <m:r>
                      <m:rPr>
                        <m:nor/>
                      </m:rPr>
                      <a:rPr kumimoji="1" lang="en-US" altLang="zh-CN" b="1" dirty="0">
                        <a:solidFill>
                          <a:schemeClr val="tx1"/>
                        </a:solidFill>
                        <a:latin typeface="Arial" panose="020B0604020202020204" pitchFamily="34" charset="0"/>
                        <a:ea typeface="SimHei" panose="02010609060101010101" pitchFamily="49" charset="-122"/>
                        <a:cs typeface="Arial" panose="020B0604020202020204" pitchFamily="34" charset="0"/>
                      </a:rPr>
                      <m:t>=2.5</m:t>
                    </m:r>
                    <m:r>
                      <m:rPr>
                        <m:nor/>
                      </m:rPr>
                      <a:rPr kumimoji="1" lang="en-US" altLang="zh-CN" b="1" dirty="0">
                        <a:solidFill>
                          <a:schemeClr val="tx1"/>
                        </a:solidFill>
                        <a:latin typeface="Arial" panose="020B0604020202020204" pitchFamily="34" charset="0"/>
                        <a:ea typeface="SimHei" panose="02010609060101010101" pitchFamily="49" charset="-122"/>
                        <a:cs typeface="Arial" panose="020B0604020202020204" pitchFamily="34" charset="0"/>
                        <a:sym typeface="Symbol" panose="05050102010706020507" pitchFamily="18" charset="2"/>
                      </a:rPr>
                      <m:t></m:t>
                    </m:r>
                    <m:sSup>
                      <m:sSupPr>
                        <m:ctrlP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ctrlPr>
                      </m:sSupPr>
                      <m:e>
                        <m: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t>𝟏𝟎</m:t>
                        </m:r>
                      </m:e>
                      <m:sup>
                        <m: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t>−</m:t>
                        </m:r>
                        <m:r>
                          <a:rPr kumimoji="1" lang="en-US" altLang="zh-CN" b="1" i="1" dirty="0">
                            <a:solidFill>
                              <a:schemeClr val="tx1"/>
                            </a:solidFill>
                            <a:latin typeface="Cambria Math" panose="02040503050406030204" pitchFamily="18" charset="0"/>
                            <a:cs typeface="Times New Roman" panose="02020603050405020304" pitchFamily="18" charset="0"/>
                            <a:sym typeface="Symbol" panose="05050102010706020507" pitchFamily="18" charset="2"/>
                          </a:rPr>
                          <m:t>𝟏𝟒</m:t>
                        </m:r>
                      </m:sup>
                    </m:sSup>
                  </m:oMath>
                </a14:m>
                <a:r>
                  <a:rPr kumimoji="1" lang="en-US" altLang="zh-CN" b="1" dirty="0">
                    <a:solidFill>
                      <a:schemeClr val="tx1"/>
                    </a:solidFill>
                    <a:latin typeface="Arial" panose="020B0604020202020204" pitchFamily="34" charset="0"/>
                    <a:ea typeface="SimHei" panose="02010609060101010101" pitchFamily="49" charset="-122"/>
                    <a:cs typeface="Arial" panose="020B0604020202020204" pitchFamily="34" charset="0"/>
                  </a:rPr>
                  <a:t>m</a:t>
                </a:r>
                <a:r>
                  <a:rPr kumimoji="1" lang="en-US" altLang="zh-CN" b="1" baseline="30000" dirty="0">
                    <a:solidFill>
                      <a:schemeClr val="tx1"/>
                    </a:solidFill>
                    <a:latin typeface="Arial" panose="020B0604020202020204" pitchFamily="34" charset="0"/>
                    <a:ea typeface="SimHei" panose="02010609060101010101" pitchFamily="49" charset="-122"/>
                    <a:cs typeface="Arial" panose="020B0604020202020204" pitchFamily="34" charset="0"/>
                  </a:rPr>
                  <a:t>2</a:t>
                </a:r>
                <a:r>
                  <a:rPr kumimoji="1" lang="zh-CN" altLang="en-US" b="1" dirty="0">
                    <a:solidFill>
                      <a:schemeClr val="tx1"/>
                    </a:solidFill>
                    <a:latin typeface="SimHei" panose="02010609060101010101" pitchFamily="49" charset="-122"/>
                    <a:ea typeface="SimHei" panose="02010609060101010101" pitchFamily="49" charset="-122"/>
                    <a:cs typeface="Times New Roman" panose="02020603050405020304" pitchFamily="18" charset="0"/>
                  </a:rPr>
                  <a:t>，介质长</a:t>
                </a:r>
                <a:r>
                  <a:rPr kumimoji="1" lang="en-US" altLang="zh-CN" b="1" dirty="0">
                    <a:solidFill>
                      <a:schemeClr val="tx1"/>
                    </a:solidFill>
                    <a:latin typeface="Arial" panose="020B0604020202020204" pitchFamily="34" charset="0"/>
                    <a:ea typeface="SimHei" panose="02010609060101010101" pitchFamily="49" charset="-122"/>
                    <a:cs typeface="Arial" panose="020B0604020202020204" pitchFamily="34" charset="0"/>
                  </a:rPr>
                  <a:t>l</a:t>
                </a:r>
                <a:r>
                  <a:rPr kumimoji="1" lang="zh-CN" altLang="en-US" b="1" dirty="0">
                    <a:solidFill>
                      <a:schemeClr val="tx1"/>
                    </a:solidFill>
                    <a:latin typeface="Arial" panose="020B0604020202020204" pitchFamily="34" charset="0"/>
                    <a:ea typeface="SimHei" panose="02010609060101010101" pitchFamily="49" charset="-122"/>
                    <a:cs typeface="Arial" panose="020B0604020202020204" pitchFamily="34" charset="0"/>
                  </a:rPr>
                  <a:t>＝</a:t>
                </a:r>
                <a:r>
                  <a:rPr kumimoji="1" lang="en-US" altLang="zh-CN" b="1" dirty="0">
                    <a:solidFill>
                      <a:schemeClr val="tx1"/>
                    </a:solidFill>
                    <a:latin typeface="Arial" panose="020B0604020202020204" pitchFamily="34" charset="0"/>
                    <a:ea typeface="SimHei" panose="02010609060101010101" pitchFamily="49" charset="-122"/>
                    <a:cs typeface="Arial" panose="020B0604020202020204" pitchFamily="34" charset="0"/>
                  </a:rPr>
                  <a:t>20cm</a:t>
                </a:r>
                <a:r>
                  <a:rPr kumimoji="1" lang="zh-CN" altLang="en-US" b="1" dirty="0">
                    <a:solidFill>
                      <a:schemeClr val="tx1"/>
                    </a:solidFill>
                    <a:latin typeface="SimHei" panose="02010609060101010101" pitchFamily="49" charset="-122"/>
                    <a:ea typeface="SimHei" panose="02010609060101010101" pitchFamily="49" charset="-122"/>
                    <a:cs typeface="Times New Roman" panose="02020603050405020304" pitchFamily="18" charset="0"/>
                  </a:rPr>
                  <a:t>，单程损耗率</a:t>
                </a:r>
                <a:r>
                  <a:rPr kumimoji="1" lang="en-US" altLang="zh-CN" b="1" dirty="0">
                    <a:solidFill>
                      <a:schemeClr val="tx1"/>
                    </a:solidFill>
                    <a:latin typeface="Arial" panose="020B0604020202020204" pitchFamily="34" charset="0"/>
                    <a:ea typeface="SimHei" panose="02010609060101010101" pitchFamily="49" charset="-122"/>
                    <a:cs typeface="Arial" panose="020B0604020202020204" pitchFamily="34" charset="0"/>
                  </a:rPr>
                  <a:t>δ= 0.01</a:t>
                </a:r>
                <a:r>
                  <a:rPr kumimoji="1" lang="zh-CN" altLang="en-US" b="1" dirty="0">
                    <a:solidFill>
                      <a:schemeClr val="tx1"/>
                    </a:solidFill>
                    <a:latin typeface="SimHei" panose="02010609060101010101" pitchFamily="49" charset="-122"/>
                    <a:ea typeface="SimHei" panose="02010609060101010101" pitchFamily="49" charset="-122"/>
                    <a:cs typeface="Times New Roman" panose="02020603050405020304" pitchFamily="18" charset="0"/>
                  </a:rPr>
                  <a:t>。求阈值增益系数</a:t>
                </a:r>
                <a14:m>
                  <m:oMath xmlns:m="http://schemas.openxmlformats.org/officeDocument/2006/math">
                    <m:sSub>
                      <m:sSubPr>
                        <m:ctrlPr>
                          <a:rPr kumimoji="1" lang="en-US" altLang="zh-CN" b="1" i="1">
                            <a:solidFill>
                              <a:schemeClr val="tx1"/>
                            </a:solidFill>
                            <a:latin typeface="Cambria Math" panose="02040503050406030204" pitchFamily="18" charset="0"/>
                            <a:ea typeface="黑体" panose="02010609060101010101" pitchFamily="49" charset="-122"/>
                          </a:rPr>
                        </m:ctrlPr>
                      </m:sSubPr>
                      <m:e>
                        <m:r>
                          <m:rPr>
                            <m:nor/>
                          </m:rPr>
                          <a:rPr kumimoji="1" lang="en-US" altLang="zh-CN" b="1" i="1">
                            <a:solidFill>
                              <a:schemeClr val="tx1"/>
                            </a:solidFill>
                            <a:latin typeface="Arial" panose="020B0604020202020204" pitchFamily="34" charset="0"/>
                            <a:ea typeface="SimHei" panose="02010609060101010101" pitchFamily="49" charset="-122"/>
                            <a:cs typeface="Arial" panose="020B0604020202020204" pitchFamily="34" charset="0"/>
                          </a:rPr>
                          <m:t>g</m:t>
                        </m:r>
                      </m:e>
                      <m:sub>
                        <m:r>
                          <a:rPr kumimoji="1" lang="en-US" altLang="zh-CN" b="1" i="1">
                            <a:solidFill>
                              <a:schemeClr val="tx1"/>
                            </a:solidFill>
                            <a:latin typeface="Cambria Math" panose="02040503050406030204" pitchFamily="18" charset="0"/>
                            <a:ea typeface="黑体" panose="02010609060101010101" pitchFamily="49" charset="-122"/>
                          </a:rPr>
                          <m:t>𝒕</m:t>
                        </m:r>
                      </m:sub>
                    </m:sSub>
                  </m:oMath>
                </a14:m>
                <a:r>
                  <a:rPr kumimoji="1" lang="zh-CN" altLang="en-US" b="1" dirty="0">
                    <a:solidFill>
                      <a:schemeClr val="tx1"/>
                    </a:solidFill>
                    <a:latin typeface="SimHei" panose="02010609060101010101" pitchFamily="49" charset="-122"/>
                    <a:ea typeface="SimHei" panose="02010609060101010101" pitchFamily="49" charset="-122"/>
                    <a:cs typeface="Times New Roman" panose="02020603050405020304" pitchFamily="18" charset="0"/>
                  </a:rPr>
                  <a:t>、阈值反转粒子数密度</a:t>
                </a:r>
                <a14:m>
                  <m:oMath xmlns:m="http://schemas.openxmlformats.org/officeDocument/2006/math">
                    <m:r>
                      <a:rPr lang="zh-CN" altLang="en-US" b="1" i="1">
                        <a:solidFill>
                          <a:schemeClr val="tx1"/>
                        </a:solidFill>
                        <a:latin typeface="Cambria Math" panose="02040503050406030204" pitchFamily="18" charset="0"/>
                      </a:rPr>
                      <m:t>∆</m:t>
                    </m:r>
                    <m:sSub>
                      <m:sSubPr>
                        <m:ctrlPr>
                          <a:rPr lang="zh-CN" altLang="en-US" b="1"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𝒏</m:t>
                        </m:r>
                      </m:e>
                      <m:sub>
                        <m:r>
                          <a:rPr lang="en-US" altLang="zh-CN" b="1" i="1">
                            <a:solidFill>
                              <a:schemeClr val="tx1"/>
                            </a:solidFill>
                            <a:latin typeface="Cambria Math" panose="02040503050406030204" pitchFamily="18" charset="0"/>
                          </a:rPr>
                          <m:t>𝒕</m:t>
                        </m:r>
                      </m:sub>
                    </m:sSub>
                  </m:oMath>
                </a14:m>
                <a:r>
                  <a:rPr kumimoji="1" lang="zh-CN" altLang="en-US" b="1" dirty="0">
                    <a:solidFill>
                      <a:schemeClr val="tx1"/>
                    </a:solidFill>
                    <a:latin typeface="SimHei" panose="02010609060101010101" pitchFamily="49" charset="-122"/>
                    <a:ea typeface="SimHei" panose="02010609060101010101" pitchFamily="49" charset="-122"/>
                    <a:cs typeface="Times New Roman" panose="02020603050405020304" pitchFamily="18" charset="0"/>
                  </a:rPr>
                  <a:t>和阈值上能级粒子数密度</a:t>
                </a:r>
                <a14:m>
                  <m:oMath xmlns:m="http://schemas.openxmlformats.org/officeDocument/2006/math">
                    <m:sSub>
                      <m:sSubPr>
                        <m:ctrlPr>
                          <a:rPr lang="zh-CN" altLang="zh-CN" b="1"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𝒏</m:t>
                        </m:r>
                      </m:e>
                      <m:sub>
                        <m:r>
                          <a:rPr lang="en-US" altLang="zh-CN" b="1" i="1">
                            <a:solidFill>
                              <a:schemeClr val="tx1"/>
                            </a:solidFill>
                            <a:latin typeface="Cambria Math" panose="02040503050406030204" pitchFamily="18" charset="0"/>
                          </a:rPr>
                          <m:t>𝟐</m:t>
                        </m:r>
                        <m:r>
                          <a:rPr lang="en-US" altLang="zh-CN" b="1" i="1">
                            <a:solidFill>
                              <a:schemeClr val="tx1"/>
                            </a:solidFill>
                            <a:latin typeface="Cambria Math" panose="02040503050406030204" pitchFamily="18" charset="0"/>
                          </a:rPr>
                          <m:t>𝒕</m:t>
                        </m:r>
                      </m:sub>
                    </m:sSub>
                  </m:oMath>
                </a14:m>
                <a:r>
                  <a:rPr lang="zh-CN" altLang="en-US" b="1" dirty="0">
                    <a:solidFill>
                      <a:schemeClr val="tx1"/>
                    </a:solidFill>
                    <a:latin typeface="SimHei" panose="02010609060101010101" pitchFamily="49" charset="-122"/>
                    <a:ea typeface="SimHei" panose="02010609060101010101" pitchFamily="49" charset="-122"/>
                    <a:cs typeface="Times New Roman" panose="02020603050405020304" pitchFamily="18" charset="0"/>
                  </a:rPr>
                  <a:t>（不考虑激光上能级寿命</a:t>
                </a:r>
                <a14:m>
                  <m:oMath xmlns:m="http://schemas.openxmlformats.org/officeDocument/2006/math">
                    <m:sSub>
                      <m:sSubPr>
                        <m:ctrlPr>
                          <a:rPr lang="zh-CN" altLang="en-US" b="1" i="1">
                            <a:solidFill>
                              <a:schemeClr val="tx1"/>
                            </a:solidFill>
                            <a:latin typeface="Cambria Math" panose="02040503050406030204" pitchFamily="18" charset="0"/>
                          </a:rPr>
                        </m:ctrlPr>
                      </m:sSubPr>
                      <m:e>
                        <m:r>
                          <a:rPr lang="zh-CN" altLang="en-US" b="1" i="1">
                            <a:solidFill>
                              <a:schemeClr val="tx1"/>
                            </a:solidFill>
                            <a:latin typeface="Cambria Math" panose="02040503050406030204" pitchFamily="18" charset="0"/>
                          </a:rPr>
                          <m:t>𝝉</m:t>
                        </m:r>
                      </m:e>
                      <m:sub>
                        <m:sSub>
                          <m:sSubPr>
                            <m:ctrlPr>
                              <a:rPr lang="zh-CN" altLang="en-US" b="1" i="1">
                                <a:solidFill>
                                  <a:schemeClr val="tx1"/>
                                </a:solidFill>
                                <a:latin typeface="Cambria Math" panose="02040503050406030204" pitchFamily="18" charset="0"/>
                              </a:rPr>
                            </m:ctrlPr>
                          </m:sSubPr>
                          <m:e>
                            <m:r>
                              <a:rPr lang="zh-CN" altLang="en-US" b="1" i="1">
                                <a:solidFill>
                                  <a:schemeClr val="tx1"/>
                                </a:solidFill>
                                <a:latin typeface="Cambria Math" panose="02040503050406030204" pitchFamily="18" charset="0"/>
                              </a:rPr>
                              <m:t>𝒔</m:t>
                            </m:r>
                          </m:e>
                          <m:sub>
                            <m:r>
                              <a:rPr lang="zh-CN" altLang="en-US" b="1" i="1">
                                <a:solidFill>
                                  <a:schemeClr val="tx1"/>
                                </a:solidFill>
                                <a:latin typeface="Cambria Math" panose="02040503050406030204" pitchFamily="18" charset="0"/>
                              </a:rPr>
                              <m:t>𝟐</m:t>
                            </m:r>
                          </m:sub>
                        </m:sSub>
                      </m:sub>
                    </m:sSub>
                  </m:oMath>
                </a14:m>
                <a:r>
                  <a:rPr lang="zh-CN" altLang="en-US" b="1" dirty="0">
                    <a:solidFill>
                      <a:schemeClr val="tx1"/>
                    </a:solidFill>
                    <a:latin typeface="SimHei" panose="02010609060101010101" pitchFamily="49" charset="-122"/>
                    <a:ea typeface="SimHei" panose="02010609060101010101" pitchFamily="49" charset="-122"/>
                    <a:cs typeface="Times New Roman" panose="02020603050405020304" pitchFamily="18" charset="0"/>
                  </a:rPr>
                  <a:t>）</a:t>
                </a:r>
                <a:endParaRPr kumimoji="1" lang="en-US" altLang="zh-CN" b="1" dirty="0">
                  <a:solidFill>
                    <a:schemeClr val="tx1"/>
                  </a:solidFill>
                  <a:latin typeface="SimHei" panose="02010609060101010101" pitchFamily="49" charset="-122"/>
                  <a:ea typeface="SimHei" panose="02010609060101010101" pitchFamily="49" charset="-122"/>
                </a:endParaRPr>
              </a:p>
            </p:txBody>
          </p:sp>
        </mc:Choice>
        <mc:Fallback>
          <p:sp>
            <p:nvSpPr>
              <p:cNvPr id="3" name="文本框 2">
                <a:extLst>
                  <a:ext uri="{FF2B5EF4-FFF2-40B4-BE49-F238E27FC236}">
                    <a16:creationId xmlns:a16="http://schemas.microsoft.com/office/drawing/2014/main" id="{B07A1773-A9C3-B52B-C4EB-EB434EE4CE70}"/>
                  </a:ext>
                </a:extLst>
              </p:cNvPr>
              <p:cNvSpPr txBox="1">
                <a:spLocks noRot="1" noChangeAspect="1" noMove="1" noResize="1" noEditPoints="1" noAdjustHandles="1" noChangeArrowheads="1" noChangeShapeType="1" noTextEdit="1"/>
              </p:cNvSpPr>
              <p:nvPr/>
            </p:nvSpPr>
            <p:spPr>
              <a:xfrm>
                <a:off x="432486" y="5222089"/>
                <a:ext cx="11454714" cy="947119"/>
              </a:xfrm>
              <a:prstGeom prst="rect">
                <a:avLst/>
              </a:prstGeom>
              <a:blipFill>
                <a:blip r:embed="rId2"/>
                <a:stretch>
                  <a:fillRect l="-443" t="-4000" r="-221" b="-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7104480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187</Words>
  <Application>Microsoft Macintosh PowerPoint</Application>
  <PresentationFormat>宽屏</PresentationFormat>
  <Paragraphs>10</Paragraphs>
  <Slides>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vt:i4>
      </vt:variant>
    </vt:vector>
  </HeadingPairs>
  <TitlesOfParts>
    <vt:vector size="7" baseType="lpstr">
      <vt:lpstr>等线</vt:lpstr>
      <vt:lpstr>等线 Light</vt:lpstr>
      <vt:lpstr>SimHei</vt:lpstr>
      <vt:lpstr>Arial</vt:lpstr>
      <vt:lpstr>Cambria Math</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Jianan DUAN</dc:creator>
  <cp:lastModifiedBy>Jianan DUAN</cp:lastModifiedBy>
  <cp:revision>7</cp:revision>
  <dcterms:created xsi:type="dcterms:W3CDTF">2022-09-15T06:04:56Z</dcterms:created>
  <dcterms:modified xsi:type="dcterms:W3CDTF">2024-11-28T09:39:20Z</dcterms:modified>
</cp:coreProperties>
</file>