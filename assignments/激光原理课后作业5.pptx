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5680"/>
  </p:normalViewPr>
  <p:slideViewPr>
    <p:cSldViewPr snapToGrid="0" snapToObjects="1">
      <p:cViewPr varScale="1">
        <p:scale>
          <a:sx n="121" d="100"/>
          <a:sy n="121" d="100"/>
        </p:scale>
        <p:origin x="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1EF34-B359-E54D-9687-A7325FD1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BBAF16-43E5-2140-813A-2C1D373C2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93796E-8655-4843-B51B-FB7C9D82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EE6860-491B-A64A-B377-19E032A7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2145F-A811-CD46-B425-BE89EB51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54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7145B-0A30-0047-A82C-F7318579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9A1734-C88B-AE43-8064-44FE1414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5F84CA-0EBE-B640-8CC9-1D9A4B9BC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C2DD0-AC67-7840-B99C-ADDD1B43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773E1D-0F56-0B4C-B077-BAD6EA39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636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75358-2DC2-F74C-9B7C-7FE4707C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5E1DF8-5C43-FA4F-B23D-CF241C7C5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16E76-1BD7-C94C-A9DC-DAED4473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7568C9-DBD2-A347-A2F2-DFA88782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EBCDC-4D9A-5746-9C5B-E802AC5D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309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27103-E3DA-2A4E-AC02-7D429F1AB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FA984-B809-A044-816C-3B8216966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C76919-40D8-3743-860B-0BB3ED4A0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8F2EA3-57BA-9843-ABEA-BE953CB2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DB2125-1E38-3145-8D59-467B1E3A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E6382B-8698-6745-ABA4-7F4FCF8D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5465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76356-4BAC-3A4E-B93B-D8734B1DE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E2FC62-C3B8-974E-B254-80FDEE9BA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140EC1-CAAA-E942-9714-231168BB0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EACDA-E2E6-6840-AA5B-D4A86FAA0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EAD40E-5664-DF44-A2C8-EB89F0EA6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723213-FD6E-E543-B0A6-FF0CE639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ED094E5-82C7-E44D-95F8-A8E14DD1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7D5012-8BF8-C447-8713-F7336300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8955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8E4B5-99D0-124D-88EA-1DD630E64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44B2E1-0E55-BE41-BE6E-7CF6F1B5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B93882-6757-F647-BEA5-61EBFD15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103A77-C137-084F-A941-8B1B04FE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728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543843-2EA6-A846-8802-9347D325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2575DE-2D08-CD46-8E46-4677C871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3E45D3-14A4-C543-AAC6-D176A391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761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81FFC-CF00-C247-A3E2-585FD530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71DDD-049D-2E4D-AA1F-335BA34BD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D31772-009A-B841-AD35-EF7BD1DDB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758E87-67D9-2649-ACC8-D55BF0A9B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6EC1A0-94AD-5E49-92DE-2C493741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BCB3DF-CA50-0F44-B351-65D9F0BC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806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CD2DD-E19F-924E-90E6-5738748B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793158-A47F-8B4F-8011-2A8D6CAB7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4739FE-2704-A040-BE58-7CB12589B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EC5B2D-275A-7741-8CC7-3CAD31AF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558D19-8CB0-EB43-9956-2DF30709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B6D52-FBC4-8247-9332-150C6F239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234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B4C84-FD4F-A846-BE7B-169F7760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FD5CE7-B646-8840-8680-C8FE9FEFD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1C57A4-48B3-1D40-B85C-D6D00E1C6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47E4F-8CE7-794A-BB5E-A2366899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BE998-14A6-6645-9781-A6F409E7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664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CB98CC-2BEA-9844-BC98-4C79AB8A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CA81F8-D77B-6641-A683-A11D886C7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2C678B-E9A5-2648-B949-94B2244A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3F94D9-D993-7D4E-9893-F3DA1542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169E2A-1511-C94B-ADD3-432AC173F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874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4022AB-1015-7F40-AF29-AA0F150A4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D417E7-809D-E443-BB2F-CA6D359F8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60F49-3FEC-044E-B873-0E39844C2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2E0B1-2016-FC46-90D1-0DA9C1821E09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E2C97A-314E-8F4A-A904-391637ED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340302-28A8-7248-9BFB-E3673BED7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8C20C-451F-0A45-863D-972423EB38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012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9AE084B-8A00-2247-9079-D1476BBB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43" y="1391970"/>
            <a:ext cx="2440728" cy="23844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468155-6856-D141-B173-E97EEC1547A1}"/>
                  </a:ext>
                </a:extLst>
              </p:cNvPr>
              <p:cNvSpPr txBox="1"/>
              <p:nvPr/>
            </p:nvSpPr>
            <p:spPr>
              <a:xfrm>
                <a:off x="403761" y="380010"/>
                <a:ext cx="11483439" cy="762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、证明光线通过图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1.1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所示厚度为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d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的平行平面介质的光线变换矩阵为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b="1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1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𝟏</m:t>
                              </m:r>
                            </m:e>
                            <m:e>
                              <m:f>
                                <m:fPr>
                                  <m:ctrlP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𝒅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𝜼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𝟎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zh-CN" altLang="en-US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3468155-6856-D141-B173-E97EEC154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61" y="380010"/>
                <a:ext cx="11483439" cy="762003"/>
              </a:xfrm>
              <a:prstGeom prst="rect">
                <a:avLst/>
              </a:prstGeom>
              <a:blipFill>
                <a:blip r:embed="rId3"/>
                <a:stretch>
                  <a:fillRect l="-442"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AFE4EB36-BDD2-9B46-9962-D73B0EF689CE}"/>
              </a:ext>
            </a:extLst>
          </p:cNvPr>
          <p:cNvSpPr txBox="1"/>
          <p:nvPr/>
        </p:nvSpPr>
        <p:spPr>
          <a:xfrm>
            <a:off x="2395672" y="3857140"/>
            <a:ext cx="1650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/>
              <a:t>图</a:t>
            </a:r>
            <a:r>
              <a:rPr kumimoji="1" lang="en-US" altLang="zh-CN" sz="1600" b="1" dirty="0"/>
              <a:t>1.1</a:t>
            </a:r>
            <a:endParaRPr kumimoji="1" lang="zh-CN" altLang="en-US" sz="16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47A29DA-312B-AE4A-B809-33ED6ECA0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045" y="1732790"/>
            <a:ext cx="2802578" cy="19844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EC1FD83-45EF-D24A-B85E-708DF03A0F29}"/>
              </a:ext>
            </a:extLst>
          </p:cNvPr>
          <p:cNvSpPr txBox="1"/>
          <p:nvPr/>
        </p:nvSpPr>
        <p:spPr>
          <a:xfrm>
            <a:off x="6857999" y="3857140"/>
            <a:ext cx="1650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/>
              <a:t>图</a:t>
            </a:r>
            <a:r>
              <a:rPr kumimoji="1" lang="en-US" altLang="zh-CN" sz="1600" b="1" dirty="0"/>
              <a:t>1.2</a:t>
            </a:r>
            <a:endParaRPr kumimoji="1" lang="zh-CN" altLang="en-US" sz="1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16FF07-6DA1-2C44-A6FA-7B7F582CBEAF}"/>
                  </a:ext>
                </a:extLst>
              </p:cNvPr>
              <p:cNvSpPr txBox="1"/>
              <p:nvPr/>
            </p:nvSpPr>
            <p:spPr>
              <a:xfrm>
                <a:off x="403760" y="4558145"/>
                <a:ext cx="11483439" cy="773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、证明光线通过图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1.2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所示半径为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R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的球面介质的光线变换矩阵为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1" lang="en-US" altLang="zh-CN" b="1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zh-CN" b="1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1" lang="en-US" altLang="zh-CN" b="1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𝟏</m:t>
                              </m:r>
                            </m:e>
                            <m:e>
                              <m:r>
                                <a:rPr kumimoji="1" lang="en-US" altLang="zh-CN" b="1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  <m:t>𝑹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kumimoji="1" lang="en-US" altLang="zh-CN" b="1" i="1" smtClean="0">
                                      <a:latin typeface="Cambria Math" panose="02040503050406030204" pitchFamily="18" charset="0"/>
                                      <a:ea typeface="Microsoft YaHei" panose="020B0503020204020204" pitchFamily="34" charset="-122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kumimoji="1" lang="en-US" altLang="zh-CN" b="1" i="1" smtClean="0">
                                          <a:latin typeface="Cambria Math" panose="02040503050406030204" pitchFamily="18" charset="0"/>
                                          <a:ea typeface="Microsoft YaHei" panose="020B0503020204020204" pitchFamily="34" charset="-122"/>
                                        </a:rPr>
                                        <m:t>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kumimoji="1" lang="zh-CN" altLang="en-US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316FF07-6DA1-2C44-A6FA-7B7F582CB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60" y="4558145"/>
                <a:ext cx="11483439" cy="773930"/>
              </a:xfrm>
              <a:prstGeom prst="rect">
                <a:avLst/>
              </a:prstGeom>
              <a:blipFill>
                <a:blip r:embed="rId5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051CCBC2-5273-B7BC-0AAA-FB0D6533E6DF}"/>
              </a:ext>
            </a:extLst>
          </p:cNvPr>
          <p:cNvSpPr txBox="1"/>
          <p:nvPr/>
        </p:nvSpPr>
        <p:spPr>
          <a:xfrm>
            <a:off x="157655" y="130053"/>
            <a:ext cx="2890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激光原理第二章</a:t>
            </a:r>
          </a:p>
        </p:txBody>
      </p:sp>
    </p:spTree>
    <p:extLst>
      <p:ext uri="{BB962C8B-B14F-4D97-AF65-F5344CB8AC3E}">
        <p14:creationId xmlns:p14="http://schemas.microsoft.com/office/powerpoint/2010/main" val="1168548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D6B89B9-8FEB-D17F-5392-B5E17506105C}"/>
              </a:ext>
            </a:extLst>
          </p:cNvPr>
          <p:cNvSpPr txBox="1"/>
          <p:nvPr/>
        </p:nvSpPr>
        <p:spPr>
          <a:xfrm>
            <a:off x="432486" y="345989"/>
            <a:ext cx="11454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、简答题：光学谐振腔内，哪些类型的损耗能对横膜的选择起作用，他们有什么共同特点？简述如何保证稳定球面腔激光器的基横模运转？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C1060AD-6843-94CF-F75B-19B740ECB340}"/>
                  </a:ext>
                </a:extLst>
              </p:cNvPr>
              <p:cNvSpPr txBox="1"/>
              <p:nvPr/>
            </p:nvSpPr>
            <p:spPr>
              <a:xfrm>
                <a:off x="432486" y="3069163"/>
                <a:ext cx="1145471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、由凸面镜和凹面镜组成的球面腔，如果凸面镜曲率半径为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3m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，凹面镜曲率半径为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4m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，腔长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L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1m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，腔内介质折射率为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，此球面镜腔是何种腔（稳定腔、临界腔、非稳腔）？</a:t>
                </a:r>
                <a:endParaRPr kumimoji="1" lang="en-US" altLang="zh-CN" b="1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当腔内插入一块长为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0.5m</a:t>
                </a:r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，折射率</a:t>
                </a:r>
                <a14:m>
                  <m:oMath xmlns:m="http://schemas.openxmlformats.org/officeDocument/2006/math">
                    <m:r>
                      <a:rPr kumimoji="1" lang="zh-CN" altLang="en-US" b="1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𝜼</m:t>
                    </m:r>
                    <m:r>
                      <a:rPr kumimoji="1" lang="en-US" altLang="zh-CN" b="1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=</m:t>
                    </m:r>
                    <m:r>
                      <a:rPr kumimoji="1" lang="en-US" altLang="zh-CN" b="1" i="1" smtClean="0">
                        <a:latin typeface="Cambria Math" panose="02040503050406030204" pitchFamily="18" charset="0"/>
                        <a:ea typeface="SimHei" panose="02010609060101010101" pitchFamily="49" charset="-122"/>
                      </a:rPr>
                      <m:t>𝟐</m:t>
                    </m:r>
                  </m:oMath>
                </a14:m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的其他透明介质时（介质两端面垂直于腔轴线），谐振腔为何种腔（稳定腔、临界腔、非稳腔）？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C1060AD-6843-94CF-F75B-19B740ECB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86" y="3069163"/>
                <a:ext cx="11454714" cy="1200329"/>
              </a:xfrm>
              <a:prstGeom prst="rect">
                <a:avLst/>
              </a:prstGeom>
              <a:blipFill>
                <a:blip r:embed="rId2"/>
                <a:stretch>
                  <a:fillRect l="-443" t="-2105" b="-7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536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200</Words>
  <Application>Microsoft Macintosh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Jianan DUAN</dc:creator>
  <cp:lastModifiedBy>Jianan DUAN</cp:lastModifiedBy>
  <cp:revision>6</cp:revision>
  <dcterms:created xsi:type="dcterms:W3CDTF">2022-09-13T06:53:05Z</dcterms:created>
  <dcterms:modified xsi:type="dcterms:W3CDTF">2024-11-01T06:28:12Z</dcterms:modified>
</cp:coreProperties>
</file>