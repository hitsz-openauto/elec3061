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7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745BB-B849-134D-9477-0157D4833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8741B7-BCB2-8A44-B70A-6ACE33174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70E77B-AFBF-B741-A39C-698408A7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ACFF-A3EC-6D46-A1D5-7B313509AD1B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0CCED7-62D9-0F47-8542-6589E717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E8BDD8-962F-4A41-B7A2-DC4C56F1D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CBFFF-BEDC-114F-9648-0F6B13BD2B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151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24379-BE72-1941-9A35-EF696E33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54F9D8-B326-4045-80F7-6DADE5091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A45002-6390-8644-9CDA-755AE91F4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ACFF-A3EC-6D46-A1D5-7B313509AD1B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07D315-811B-4640-918B-4E5445FF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773685-4CCA-654A-AD41-C633DFC1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CBFFF-BEDC-114F-9648-0F6B13BD2B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972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B562F-6E1E-1A43-AB05-3F2DA806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F46493-AE67-F64B-AEAF-9B0B55D0A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FBABF7-0A56-DC4C-AE66-57ABE4309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ACFF-A3EC-6D46-A1D5-7B313509AD1B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0EF504-10A2-9741-843E-D4BFB83A6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8CC1E4-62F1-F647-AAF9-D86DF8D1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CBFFF-BEDC-114F-9648-0F6B13BD2B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414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BB52D-6D4C-DB4F-AE88-47CCF4A3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C968CE-1FFE-5D47-8E18-3FF08521A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70A448-D3CB-3F41-B4BE-2963479C6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CC0433-F79C-0E4F-9739-805C2B7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ACFF-A3EC-6D46-A1D5-7B313509AD1B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BB83B5-8AE5-0446-A8C6-1B9FC98C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4B1933-C996-2244-8395-1C1DE5E3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CBFFF-BEDC-114F-9648-0F6B13BD2B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778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81F9F-D089-3144-A138-9E9E4C73D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252AFB-482C-104F-9512-4F4C32E13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48F3E3-0505-D749-BE02-AE7CDFA39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867953-15C0-9948-9820-37D125854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261A6A-D73B-824C-92A9-676F8EEFCD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A58BF1-F41E-C649-ABAB-4A67C469C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ACFF-A3EC-6D46-A1D5-7B313509AD1B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103EC8-5000-FA43-9A57-1D8460FC2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36EC0B-AFA3-E14D-9F3F-A1289177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CBFFF-BEDC-114F-9648-0F6B13BD2B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3463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BFDF91-84EE-2346-B737-2EBF389F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0BFC39-0FAD-3B46-A96E-7C92573A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ACFF-A3EC-6D46-A1D5-7B313509AD1B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D8E577-DFA9-AC41-8BC4-99ED5AFD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8F185C-5B24-544B-B7AF-749BA2F5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CBFFF-BEDC-114F-9648-0F6B13BD2B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566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D38ADE-9C35-D140-949F-C75FCFC7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ACFF-A3EC-6D46-A1D5-7B313509AD1B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07A2E2-9310-4D49-B7B5-10AA9EC2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8CE4FA-24D6-7D4F-AAC6-58CEE037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CBFFF-BEDC-114F-9648-0F6B13BD2B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391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1F099-7C65-734F-AD8C-61D636E11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A1EEF-0990-C84C-BCFB-EE754EEB2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DFC191-6845-C34A-90E2-AB3B8A001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237F09-A503-3E46-8492-CA39679C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ACFF-A3EC-6D46-A1D5-7B313509AD1B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4B125E-2AE7-F94D-9064-A76F0438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8A82A0-08DF-3F41-8A37-37D992F3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CBFFF-BEDC-114F-9648-0F6B13BD2B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6042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7166D-A72E-7E4D-9195-2A74B0D2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E07732-D1F3-1645-9A1E-E2C037DD44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CA3650-55CE-FA48-8318-EE5857236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CCC58F-A0E8-BB41-B106-1A8C0D4F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ACFF-A3EC-6D46-A1D5-7B313509AD1B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4A81A-BAFB-6140-AB10-797FAB0F4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F82F8B-9B9D-0C40-88B3-3A3C03934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CBFFF-BEDC-114F-9648-0F6B13BD2B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1766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E9353-0013-F54D-A4DD-F27B7B29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9B23F4-E88C-F345-970C-2FBF1EDFC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DB301F-E10C-A640-A129-305E3992E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ACFF-A3EC-6D46-A1D5-7B313509AD1B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293C03-8C1D-5B4A-A1AE-CE4EDA1C1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B4C80D-0F37-E346-9D61-F47D921C2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CBFFF-BEDC-114F-9648-0F6B13BD2B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6771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584B288-FC52-7C4A-904B-569C76CF2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ACD3BB-100A-1B42-BFB9-E3ADE39E7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DA7638-27D7-D744-9050-E50BBAFB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ACFF-A3EC-6D46-A1D5-7B313509AD1B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6E24AC-829D-C841-911D-074827DE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115F3D-1426-1848-AC44-5FADFC3E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CBFFF-BEDC-114F-9648-0F6B13BD2B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205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A77ECD-D90B-7A4B-B622-CD298F25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DE19A5-5780-2F47-9D3A-626ED2FD6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95F94C-092C-B846-B2D9-AE2D7FD0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4ACFF-A3EC-6D46-A1D5-7B313509AD1B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9DDB84-3A64-9841-A69F-A4A3EC8D2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EBE4E-5AF9-4B46-9145-4DD7F90B6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CBFFF-BEDC-114F-9648-0F6B13BD2B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276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27B0F25-32BF-E647-AA94-75A1ECB311E4}"/>
              </a:ext>
            </a:extLst>
          </p:cNvPr>
          <p:cNvSpPr txBox="1"/>
          <p:nvPr/>
        </p:nvSpPr>
        <p:spPr>
          <a:xfrm>
            <a:off x="576197" y="375781"/>
            <a:ext cx="10922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1</a:t>
            </a:r>
            <a:r>
              <a:rPr kumimoji="1" lang="zh-CN" altLang="en-US" b="1" dirty="0"/>
              <a:t>、分别画出方形镜公焦腔中</a:t>
            </a:r>
            <a:r>
              <a:rPr kumimoji="1" lang="en-US" altLang="zh-CN" b="1" dirty="0"/>
              <a:t>TEM</a:t>
            </a:r>
            <a:r>
              <a:rPr kumimoji="1" lang="en-US" altLang="zh-CN" b="1" baseline="-25000" dirty="0"/>
              <a:t>32</a:t>
            </a:r>
            <a:r>
              <a:rPr kumimoji="1" lang="zh-CN" altLang="en-US" b="1" dirty="0"/>
              <a:t> 模在反射镜面上的光斑图样，以及圆形镜共焦腔</a:t>
            </a:r>
            <a:r>
              <a:rPr kumimoji="1" lang="en-US" altLang="zh-CN" b="1" dirty="0"/>
              <a:t>TEM</a:t>
            </a:r>
            <a:r>
              <a:rPr kumimoji="1" lang="en-US" altLang="zh-CN" b="1" baseline="-25000" dirty="0"/>
              <a:t>21</a:t>
            </a:r>
            <a:r>
              <a:rPr kumimoji="1" lang="zh-CN" altLang="en-US" b="1" dirty="0"/>
              <a:t>模在反射镜面上的光斑图样。</a:t>
            </a:r>
            <a:endParaRPr kumimoji="1" lang="en-US" altLang="zh-CN" b="1" dirty="0"/>
          </a:p>
          <a:p>
            <a:endParaRPr kumimoji="1" lang="en-US" altLang="zh-CN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921CB-FE71-CC41-88DA-601DF99C5649}"/>
              </a:ext>
            </a:extLst>
          </p:cNvPr>
          <p:cNvSpPr txBox="1"/>
          <p:nvPr/>
        </p:nvSpPr>
        <p:spPr>
          <a:xfrm>
            <a:off x="576197" y="2670845"/>
            <a:ext cx="10922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2</a:t>
            </a:r>
            <a:r>
              <a:rPr kumimoji="1" lang="zh-CN" altLang="en-US" b="1" dirty="0"/>
              <a:t>、现在有一个平面镜和一个</a:t>
            </a:r>
            <a:r>
              <a:rPr kumimoji="1" lang="en-US" altLang="zh-CN" b="1" dirty="0"/>
              <a:t>R=1m</a:t>
            </a:r>
            <a:r>
              <a:rPr kumimoji="1" lang="zh-CN" altLang="en-US" b="1" dirty="0"/>
              <a:t>的凹面镜构成一个平凹稳定腔，应该如何选择腔长，可以获得最小的基模远场发散角？说明你的理由。</a:t>
            </a:r>
            <a:endParaRPr kumimoji="1" lang="en-US" altLang="zh-CN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DB89B7-2F03-6447-9B15-E38522710730}"/>
              </a:ext>
            </a:extLst>
          </p:cNvPr>
          <p:cNvSpPr txBox="1"/>
          <p:nvPr/>
        </p:nvSpPr>
        <p:spPr>
          <a:xfrm>
            <a:off x="634652" y="4688910"/>
            <a:ext cx="10922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3</a:t>
            </a:r>
            <a:r>
              <a:rPr kumimoji="1" lang="zh-CN" altLang="en-US" b="1" dirty="0"/>
              <a:t>、为什么对同一横模，当菲涅耳数</a:t>
            </a:r>
            <a:r>
              <a:rPr kumimoji="1" lang="en-US" altLang="zh-CN" b="1" dirty="0"/>
              <a:t>N</a:t>
            </a:r>
            <a:r>
              <a:rPr kumimoji="1" lang="zh-CN" altLang="en-US" b="1" dirty="0"/>
              <a:t>越小时，衍射损耗越大？为什么在同一</a:t>
            </a:r>
            <a:r>
              <a:rPr kumimoji="1" lang="en-US" altLang="zh-CN" b="1" dirty="0"/>
              <a:t>N</a:t>
            </a:r>
            <a:r>
              <a:rPr kumimoji="1" lang="zh-CN" altLang="en-US" b="1" dirty="0"/>
              <a:t>值下，模的阶次越高，衍射损耗越大？为什么稳定球面镜腔的衍射损耗较平面镜腔低？</a:t>
            </a:r>
            <a:endParaRPr kumimoji="1"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1641211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0DFF3DA-F513-424F-ACCC-AA34C66DC9D7}"/>
                  </a:ext>
                </a:extLst>
              </p:cNvPr>
              <p:cNvSpPr txBox="1"/>
              <p:nvPr/>
            </p:nvSpPr>
            <p:spPr>
              <a:xfrm>
                <a:off x="729049" y="432486"/>
                <a:ext cx="10503243" cy="948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4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、如图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4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所示曲率半径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zh-CN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的球面镜组成的谐振腔，两镜面和束腰的距离分别为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2d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endParaRPr kumimoji="1"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）设腔是稳定腔，求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d/R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的值及共焦参数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𝑓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的表达式；</a:t>
                </a:r>
                <a:endParaRPr kumimoji="1"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）如果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d=100 cm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TEM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00</m:t>
                        </m:r>
                        <m:r>
                          <m:rPr>
                            <m:sty m:val="p"/>
                          </m:rPr>
                          <a:rPr kumimoji="1"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q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TEM</m:t>
                        </m:r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kumimoji="1" lang="en-US" altLang="zh-CN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q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模之间的频率差（腔为方形镜谐振腔）。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0DFF3DA-F513-424F-ACCC-AA34C66DC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49" y="432486"/>
                <a:ext cx="10503243" cy="948016"/>
              </a:xfrm>
              <a:prstGeom prst="rect">
                <a:avLst/>
              </a:prstGeom>
              <a:blipFill>
                <a:blip r:embed="rId2"/>
                <a:stretch>
                  <a:fillRect l="-483" t="-4000" r="-2657" b="-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弧 5">
            <a:extLst>
              <a:ext uri="{FF2B5EF4-FFF2-40B4-BE49-F238E27FC236}">
                <a16:creationId xmlns:a16="http://schemas.microsoft.com/office/drawing/2014/main" id="{63D763AD-7809-7F4C-8299-425AC5386820}"/>
              </a:ext>
            </a:extLst>
          </p:cNvPr>
          <p:cNvSpPr/>
          <p:nvPr/>
        </p:nvSpPr>
        <p:spPr>
          <a:xfrm>
            <a:off x="-1037967" y="3276474"/>
            <a:ext cx="6907427" cy="2384854"/>
          </a:xfrm>
          <a:prstGeom prst="arc">
            <a:avLst>
              <a:gd name="adj1" fmla="val 14813989"/>
              <a:gd name="adj2" fmla="val 2096936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弧 7">
            <a:extLst>
              <a:ext uri="{FF2B5EF4-FFF2-40B4-BE49-F238E27FC236}">
                <a16:creationId xmlns:a16="http://schemas.microsoft.com/office/drawing/2014/main" id="{97E4501C-F2E5-6347-BFC3-63DC38D8A69B}"/>
              </a:ext>
            </a:extLst>
          </p:cNvPr>
          <p:cNvSpPr/>
          <p:nvPr/>
        </p:nvSpPr>
        <p:spPr>
          <a:xfrm flipV="1">
            <a:off x="-1037967" y="360280"/>
            <a:ext cx="6907427" cy="2386800"/>
          </a:xfrm>
          <a:prstGeom prst="arc">
            <a:avLst>
              <a:gd name="adj1" fmla="val 14813989"/>
              <a:gd name="adj2" fmla="val 2096936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33C513D2-0F57-BD45-A92A-4C31036C126C}"/>
              </a:ext>
            </a:extLst>
          </p:cNvPr>
          <p:cNvCxnSpPr/>
          <p:nvPr/>
        </p:nvCxnSpPr>
        <p:spPr>
          <a:xfrm>
            <a:off x="2088292" y="2355898"/>
            <a:ext cx="0" cy="137777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弧 11">
            <a:extLst>
              <a:ext uri="{FF2B5EF4-FFF2-40B4-BE49-F238E27FC236}">
                <a16:creationId xmlns:a16="http://schemas.microsoft.com/office/drawing/2014/main" id="{1C991360-CC56-7D46-B344-D15068E1DF31}"/>
              </a:ext>
            </a:extLst>
          </p:cNvPr>
          <p:cNvSpPr/>
          <p:nvPr/>
        </p:nvSpPr>
        <p:spPr>
          <a:xfrm rot="2700000">
            <a:off x="383060" y="1571777"/>
            <a:ext cx="2880000" cy="288000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弧 13">
            <a:extLst>
              <a:ext uri="{FF2B5EF4-FFF2-40B4-BE49-F238E27FC236}">
                <a16:creationId xmlns:a16="http://schemas.microsoft.com/office/drawing/2014/main" id="{B0C8CC36-6DE4-4E4F-9FB5-4E4B5EA4F169}"/>
              </a:ext>
            </a:extLst>
          </p:cNvPr>
          <p:cNvSpPr/>
          <p:nvPr/>
        </p:nvSpPr>
        <p:spPr>
          <a:xfrm rot="2700000">
            <a:off x="2392992" y="1571776"/>
            <a:ext cx="2880000" cy="288000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05BE56-A83E-E447-B4CB-74E1BD4ECFA7}"/>
              </a:ext>
            </a:extLst>
          </p:cNvPr>
          <p:cNvSpPr txBox="1"/>
          <p:nvPr/>
        </p:nvSpPr>
        <p:spPr>
          <a:xfrm>
            <a:off x="1543050" y="3733676"/>
            <a:ext cx="87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Z=0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3C34462-43AA-7C4A-B60F-7358B133E6E6}"/>
              </a:ext>
            </a:extLst>
          </p:cNvPr>
          <p:cNvSpPr txBox="1"/>
          <p:nvPr/>
        </p:nvSpPr>
        <p:spPr>
          <a:xfrm>
            <a:off x="2610525" y="4083204"/>
            <a:ext cx="87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Z=d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6E6DBF-32F4-4B46-B1E5-18C136BCFE98}"/>
              </a:ext>
            </a:extLst>
          </p:cNvPr>
          <p:cNvSpPr txBox="1"/>
          <p:nvPr/>
        </p:nvSpPr>
        <p:spPr>
          <a:xfrm>
            <a:off x="4576342" y="4083204"/>
            <a:ext cx="87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Z=2d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732E9E9-E8CE-ED49-9F3E-80C47EB07191}"/>
                  </a:ext>
                </a:extLst>
              </p:cNvPr>
              <p:cNvSpPr txBox="1"/>
              <p:nvPr/>
            </p:nvSpPr>
            <p:spPr>
              <a:xfrm>
                <a:off x="3798624" y="2963635"/>
                <a:ext cx="542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732E9E9-E8CE-ED49-9F3E-80C47EB07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624" y="2963635"/>
                <a:ext cx="542841" cy="276999"/>
              </a:xfrm>
              <a:prstGeom prst="rect">
                <a:avLst/>
              </a:prstGeom>
              <a:blipFill>
                <a:blip r:embed="rId3"/>
                <a:stretch>
                  <a:fillRect l="-4762" t="-4545" r="-16667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D5F6CA04-D4DE-0D4C-A277-75AFC47C1DC2}"/>
              </a:ext>
            </a:extLst>
          </p:cNvPr>
          <p:cNvCxnSpPr>
            <a:cxnSpLocks/>
          </p:cNvCxnSpPr>
          <p:nvPr/>
        </p:nvCxnSpPr>
        <p:spPr>
          <a:xfrm flipV="1">
            <a:off x="3971925" y="2643192"/>
            <a:ext cx="0" cy="368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815659F6-81A6-5F45-BD07-D9747A5CFDF7}"/>
                  </a:ext>
                </a:extLst>
              </p:cNvPr>
              <p:cNvSpPr/>
              <p:nvPr/>
            </p:nvSpPr>
            <p:spPr>
              <a:xfrm>
                <a:off x="2309920" y="1693341"/>
                <a:ext cx="12674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815659F6-81A6-5F45-BD07-D9747A5CFD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920" y="1693341"/>
                <a:ext cx="126746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DED8761-EE70-754C-874D-8C12C4CCB1AA}"/>
                  </a:ext>
                </a:extLst>
              </p:cNvPr>
              <p:cNvSpPr/>
              <p:nvPr/>
            </p:nvSpPr>
            <p:spPr>
              <a:xfrm>
                <a:off x="4366044" y="1657501"/>
                <a:ext cx="10963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i="1" dirty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zh-CN" i="1" dirty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DED8761-EE70-754C-874D-8C12C4CCB1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044" y="1657501"/>
                <a:ext cx="10963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765AA04E-76B5-3348-8E8D-EFEF0BAC6B0D}"/>
              </a:ext>
            </a:extLst>
          </p:cNvPr>
          <p:cNvSpPr txBox="1"/>
          <p:nvPr/>
        </p:nvSpPr>
        <p:spPr>
          <a:xfrm>
            <a:off x="3271111" y="4311379"/>
            <a:ext cx="87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图 </a:t>
            </a:r>
            <a:r>
              <a:rPr kumimoji="1" lang="en-US" altLang="zh-CN" b="1" dirty="0"/>
              <a:t>4</a:t>
            </a:r>
            <a:endParaRPr kumimoji="1"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A203AC3-554B-F146-88F9-61BB84853535}"/>
                  </a:ext>
                </a:extLst>
              </p:cNvPr>
              <p:cNvSpPr txBox="1"/>
              <p:nvPr/>
            </p:nvSpPr>
            <p:spPr>
              <a:xfrm>
                <a:off x="729049" y="4821849"/>
                <a:ext cx="111043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5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、采用平凹腔的二氧化碳激光器，凹面镜的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R=2m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，腔长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L=1m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，请给出它产生的高斯光束的束腰腰斑半径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大小和位置以及该高斯光束的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f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的大小。</a:t>
                </a:r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A203AC3-554B-F146-88F9-61BB84853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49" y="4821849"/>
                <a:ext cx="11104363" cy="646331"/>
              </a:xfrm>
              <a:prstGeom prst="rect">
                <a:avLst/>
              </a:prstGeom>
              <a:blipFill>
                <a:blip r:embed="rId6"/>
                <a:stretch>
                  <a:fillRect l="-457" t="-3846" b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B4D42E0-7A85-4747-BCE1-2CE17BAC9A78}"/>
                  </a:ext>
                </a:extLst>
              </p:cNvPr>
              <p:cNvSpPr txBox="1"/>
              <p:nvPr/>
            </p:nvSpPr>
            <p:spPr>
              <a:xfrm>
                <a:off x="729049" y="5750457"/>
                <a:ext cx="10960927" cy="675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6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、当高斯光束通过薄透镜时，（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）什么条件下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‘</m:t>
                        </m:r>
                      </m:sup>
                    </m:sSubSup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，（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）什么条件下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‘</m:t>
                        </m:r>
                      </m:sup>
                    </m:sSubSup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，（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）什么条件下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，（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4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）在什么条件下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kumimoji="1"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。</a:t>
                </a:r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B4D42E0-7A85-4747-BCE1-2CE17BAC9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49" y="5750457"/>
                <a:ext cx="10960927" cy="675057"/>
              </a:xfrm>
              <a:prstGeom prst="rect">
                <a:avLst/>
              </a:prstGeom>
              <a:blipFill>
                <a:blip r:embed="rId7"/>
                <a:stretch>
                  <a:fillRect l="-463" b="-1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303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678A433-679E-4046-83E2-B3979B7E06C2}"/>
                  </a:ext>
                </a:extLst>
              </p:cNvPr>
              <p:cNvSpPr txBox="1"/>
              <p:nvPr/>
            </p:nvSpPr>
            <p:spPr>
              <a:xfrm>
                <a:off x="518984" y="197708"/>
                <a:ext cx="11071654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7</a:t>
                </a:r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、入射光的波长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=10.6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，如图</a:t>
                </a:r>
                <a:r>
                  <a:rPr kumimoji="1" lang="en-US" altLang="zh-CN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7</a:t>
                </a:r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，求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kumimoji="1" lang="zh-CN" altLang="en-US" b="0" i="1" smtClean="0">
                            <a:latin typeface="Cambria Math" panose="02040503050406030204" pitchFamily="18" charset="0"/>
                          </a:rPr>
                          <m:t>‘’</m:t>
                        </m:r>
                      </m:sup>
                    </m:sSup>
                  </m:oMath>
                </a14:m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kumimoji="1" lang="zh-CN" altLang="en-US" dirty="0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678A433-679E-4046-83E2-B3979B7E0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84" y="197708"/>
                <a:ext cx="11071654" cy="392993"/>
              </a:xfrm>
              <a:prstGeom prst="rect">
                <a:avLst/>
              </a:prstGeom>
              <a:blipFill>
                <a:blip r:embed="rId2"/>
                <a:stretch>
                  <a:fillRect l="-458" t="-6250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1F1F39CA-BF27-794E-973E-A38301EF8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832" y="817941"/>
            <a:ext cx="5906186" cy="253827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5A6A81D-871D-3347-9A1A-A27A4DE12D4B}"/>
              </a:ext>
            </a:extLst>
          </p:cNvPr>
          <p:cNvSpPr txBox="1"/>
          <p:nvPr/>
        </p:nvSpPr>
        <p:spPr>
          <a:xfrm>
            <a:off x="5348416" y="3429000"/>
            <a:ext cx="1767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/>
              <a:t>图</a:t>
            </a:r>
            <a:r>
              <a:rPr kumimoji="1" lang="en-US" altLang="zh-CN" b="1" dirty="0"/>
              <a:t>7</a:t>
            </a:r>
            <a:endParaRPr kumimoji="1"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E1CAEF6-80D6-0C49-8A8B-3C5B59259EA8}"/>
                  </a:ext>
                </a:extLst>
              </p:cNvPr>
              <p:cNvSpPr txBox="1"/>
              <p:nvPr/>
            </p:nvSpPr>
            <p:spPr>
              <a:xfrm>
                <a:off x="696098" y="4107250"/>
                <a:ext cx="1107165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8</a:t>
                </a:r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、假设透镜入射面上高斯光束光斑半径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  <a:ea typeface="SimHei" panose="02010609060101010101" pitchFamily="49" charset="-122"/>
                      </a:rPr>
                      <m:t>𝜔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</a:rPr>
                      <m:t>=2</m:t>
                    </m:r>
                    <m:r>
                      <m:rPr>
                        <m:sty m:val="p"/>
                      </m:rPr>
                      <a:rPr kumimoji="1" lang="en-US" altLang="zh-CN" i="1">
                        <a:latin typeface="Cambria Math" panose="02040503050406030204" pitchFamily="18" charset="0"/>
                        <a:ea typeface="SimHei" panose="02010609060101010101" pitchFamily="49" charset="-122"/>
                      </a:rPr>
                      <m:t>cm</m:t>
                    </m:r>
                  </m:oMath>
                </a14:m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，等相位面为平面，透镜焦距为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</a:rPr>
                      <m:t>𝐹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</a:rPr>
                      <m:t>=4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</a:rPr>
                      <m:t>𝑐𝑚</m:t>
                    </m:r>
                  </m:oMath>
                </a14:m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，已知波长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</a:rPr>
                      <m:t>=1.0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。</a:t>
                </a:r>
                <a:endParaRPr kumimoji="1" lang="en-US" altLang="zh-CN" dirty="0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  <a:p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（</a:t>
                </a:r>
                <a:r>
                  <a:rPr kumimoji="1" lang="en-US" altLang="zh-CN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1</a:t>
                </a:r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）如果透镜位于</a:t>
                </a:r>
                <a:r>
                  <a:rPr kumimoji="1" lang="en-US" altLang="zh-CN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z=0</a:t>
                </a:r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的位置，求经过透镜后高斯光束的光腰位置；</a:t>
                </a:r>
                <a:endParaRPr kumimoji="1" lang="en-US" altLang="zh-CN" dirty="0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  <a:p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（</a:t>
                </a:r>
                <a:r>
                  <a:rPr kumimoji="1" lang="en-US" altLang="zh-CN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2</a:t>
                </a:r>
                <a:r>
                  <a:rPr kumimoji="1" lang="zh-CN" altLang="en-US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）求经过透镜后的高斯光束远场发散角。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E1CAEF6-80D6-0C49-8A8B-3C5B59259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98" y="4107250"/>
                <a:ext cx="11071654" cy="1200329"/>
              </a:xfrm>
              <a:prstGeom prst="rect">
                <a:avLst/>
              </a:prstGeom>
              <a:blipFill>
                <a:blip r:embed="rId4"/>
                <a:stretch>
                  <a:fillRect l="-458" t="-3125"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034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447</Words>
  <Application>Microsoft Macintosh PowerPoint</Application>
  <PresentationFormat>宽屏</PresentationFormat>
  <Paragraphs>20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SimHei</vt:lpstr>
      <vt:lpstr>Microsoft YaHei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Jianan DUAN</dc:creator>
  <cp:lastModifiedBy>Jianan DUAN</cp:lastModifiedBy>
  <cp:revision>6</cp:revision>
  <dcterms:created xsi:type="dcterms:W3CDTF">2022-09-17T09:09:53Z</dcterms:created>
  <dcterms:modified xsi:type="dcterms:W3CDTF">2024-11-11T15:25:39Z</dcterms:modified>
</cp:coreProperties>
</file>