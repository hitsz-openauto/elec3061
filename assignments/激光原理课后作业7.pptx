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28F052-82C9-7948-BCC1-3A88F66A8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9D445B-22C1-3C45-9A8B-7F9268D6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07354-D0A0-A442-AA17-2A0B56C9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22870-85E8-754C-BAA4-CC76D6F5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1C8D3-BFBD-F44A-A782-C00D8EE4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805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C2895-84F6-5343-962D-818D2062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4E30AD-307D-BF40-B08D-1EAB2D30A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72F91D-509C-C044-A594-44BB3421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39E399-E4AF-864D-A84E-5D4BD518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17F429-6060-0148-926E-E628A56C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9733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AC072-AFE6-FD4F-B5E5-655FB0C6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BD84B7-EEAD-6243-A413-E7B8DA75C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9EC8F6-9530-AC48-87E2-2CC8C8BE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D71FD-A02F-F640-ACB2-463D200C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51952-E954-374F-9F5A-4044E1D8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860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2D2FD6-12A7-3147-8515-43A0F46A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6E1D6-C6A5-6541-B357-0F9D6F69D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3A94B2-66DE-C847-AA97-7966DDACD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192744-C8BC-3045-B75C-ED09256E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E236D-DF0A-9F49-8D06-B5976994A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635441-4250-854C-93C2-444A8049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32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2EB2D-3896-6640-BB9D-B9AB04B7E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F59140-8EF8-4744-9103-AB66CA9C7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18E45-E7D7-CE4B-8FB3-1523A82FB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F6D233-C6F0-6D44-A3BF-13A667415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C4569C-EEA8-0743-BA54-3C40A550A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64985C-6F9E-A540-986F-983C3B2D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A25580-AA85-F147-AC9A-0866F41B6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ADA48C-9D89-8343-9CC8-19DCE01A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079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53D55-BDE0-9B4A-8A96-705A9C1B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474918-8DDE-C24E-9944-911D7D6E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5760DA-82CE-E54D-AD30-522369B4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2B56B1-C31D-BC44-A33C-A4E613DA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268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E273CE-B725-CD4B-AD97-03583201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1A72AF-94E3-E043-B64C-420278A8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90FF0C-C056-CD4B-9F43-0624DE86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889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6958A-38EA-C344-A157-EC0C255E4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78B078-E975-1A4B-A1C8-23B7C229E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F3F073-B689-194C-A4D9-7B0A3D753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DFAB6-1DBF-3E40-A2C1-AA5706CF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C509C3-6A3F-944D-9EDC-E6B7A5E55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073C56-949C-724D-BAFB-D17E23EA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085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FBA08-79FD-374C-A73B-FB4368E1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BA130E-65C5-2D48-8F14-D49B93743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A624B0-7041-4341-882B-9EF424C7A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2C9996-A52D-064D-8A45-DE1D931A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085BEF-6380-964B-99B2-99D1A4DB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C1C164-1606-AF49-AAC4-2CF64F06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92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41528-400B-BB4F-8ECB-AB74BF05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0451A6-C978-EB46-86B0-158BF31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A03A63-E977-1041-9431-2F323B7D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83CF18-639D-D44F-AD79-A2253F57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C9BCD-D978-6A48-BA2B-7F6BEEB3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60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57FC4A-2109-8845-BB1C-0B403AF44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194523-D511-1D49-9F03-F7E342A3C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66B112-865E-B74B-8179-B42FCE1F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603DF3-AABD-B345-BBF1-ABF171E2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B257C-C68D-B246-A468-074174F4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67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2FD8-A48C-1A44-9461-25D0BB1B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2EAE5E-1489-384D-AABD-CB4F33D98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D10AB-C3A6-5F43-9255-3C0C5AF87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0E510-2CF9-904C-B859-A7ED0B253344}" type="datetimeFigureOut">
              <a:rPr kumimoji="1" lang="zh-CN" altLang="en-US" smtClean="0"/>
              <a:t>2024/11/20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49570-5149-B547-8621-C9D7E305A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4F9EEC-BAB8-B647-9999-C2477710D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91F67-96E5-8949-9CE8-856D5F6428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384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4F165F-9030-1A4E-8DAB-97F6ADD1821B}"/>
              </a:ext>
            </a:extLst>
          </p:cNvPr>
          <p:cNvSpPr txBox="1"/>
          <p:nvPr/>
        </p:nvSpPr>
        <p:spPr>
          <a:xfrm>
            <a:off x="432486" y="345989"/>
            <a:ext cx="1145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、 均匀加宽和非均匀加宽的本质区别是什么？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01B15C-65B6-E84D-802D-39BF61948E61}"/>
              </a:ext>
            </a:extLst>
          </p:cNvPr>
          <p:cNvSpPr txBox="1"/>
          <p:nvPr/>
        </p:nvSpPr>
        <p:spPr>
          <a:xfrm>
            <a:off x="432486" y="1689515"/>
            <a:ext cx="1145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、为什么原子（分子，离子）在能级上的有限寿命会造成加宽？为什么当下能级不是基态时，自然线宽不仅和上能级的自发辐射寿命有关，而且和下能级的自发辐射寿命有关？</a:t>
            </a:r>
            <a:endParaRPr kumimoji="1" lang="en-US" altLang="zh-CN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AA8464-CB8D-C28D-8662-794EC5B4952F}"/>
              </a:ext>
            </a:extLst>
          </p:cNvPr>
          <p:cNvSpPr txBox="1"/>
          <p:nvPr/>
        </p:nvSpPr>
        <p:spPr>
          <a:xfrm>
            <a:off x="432486" y="2901902"/>
            <a:ext cx="1145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、 （</a:t>
            </a:r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）三能级系统和四能级系统的最本质区别是什么？（</a:t>
            </a:r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）为什么三能级系统实现集居数反转要比四能级困难？（</a:t>
            </a:r>
            <a:r>
              <a:rPr kumimoji="1" lang="en-US" altLang="zh-CN" b="1" dirty="0"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  <a:r>
              <a:rPr kumimoji="1" lang="zh-CN" altLang="en-US" b="1" dirty="0">
                <a:latin typeface="SimHei" panose="02010609060101010101" pitchFamily="49" charset="-122"/>
                <a:ea typeface="SimHei" panose="02010609060101010101" pitchFamily="49" charset="-122"/>
              </a:rPr>
              <a:t>）列举属于三能级系统和四能级系统的激光工作物质，并阐明其形成集居数反转的激励过程。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23AF60B-B73E-35FD-6FBE-D7C13B65376D}"/>
                  </a:ext>
                </a:extLst>
              </p:cNvPr>
              <p:cNvSpPr txBox="1"/>
              <p:nvPr/>
            </p:nvSpPr>
            <p:spPr>
              <a:xfrm>
                <a:off x="432486" y="4432165"/>
                <a:ext cx="1145471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4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、三能级系统中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是基态，三个能级的统计权重相同。泵浦光频率与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、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间越迁相对应，其跃迁几率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W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13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= W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31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=W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p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。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能级的寿命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较长，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能级的寿命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较短，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14:m>
                  <m:oMath xmlns:m="http://schemas.openxmlformats.org/officeDocument/2006/math">
                    <m:r>
                      <a:rPr kumimoji="1"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的跃迁几率为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1/</a:t>
                </a:r>
                <a:r>
                  <a:rPr kumimoji="1" lang="en-US" altLang="zh-CN" b="1" dirty="0">
                    <a:ea typeface="SimHe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b="1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kumimoji="1"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𝟑𝟐</m:t>
                        </m:r>
                      </m:sub>
                    </m:sSub>
                  </m:oMath>
                </a14:m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。求：</a:t>
                </a:r>
                <a:endParaRPr kumimoji="1" lang="en-US" altLang="zh-CN" b="1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1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）在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间形成集居数反转的条件；</a:t>
                </a:r>
                <a:endParaRPr kumimoji="1" lang="en-US" altLang="zh-CN" b="1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）在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间反转集居数密度和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W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p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的关系式；</a:t>
                </a:r>
                <a:endParaRPr kumimoji="1" lang="en-US" altLang="zh-CN" b="1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）泵浦（抽运）极强时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间反转集居数密度。</a:t>
                </a:r>
                <a:endParaRPr kumimoji="1" lang="en-US" altLang="zh-CN" b="1" dirty="0">
                  <a:latin typeface="SimHei" panose="02010609060101010101" pitchFamily="49" charset="-122"/>
                  <a:ea typeface="SimHei" panose="02010609060101010101" pitchFamily="49" charset="-122"/>
                </a:endParaRPr>
              </a:p>
              <a:p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（注意：因为无谐振腔，也无相应频率的光入射，因而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3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和</a:t>
                </a:r>
                <a:r>
                  <a:rPr kumimoji="1" lang="en-US" altLang="zh-CN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E</a:t>
                </a:r>
                <a:r>
                  <a:rPr kumimoji="1" lang="en-US" altLang="zh-CN" b="1" baseline="-25000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2</a:t>
                </a:r>
                <a:r>
                  <a:rPr kumimoji="1" lang="zh-CN" altLang="en-US" b="1" dirty="0">
                    <a:latin typeface="SimHei" panose="02010609060101010101" pitchFamily="49" charset="-122"/>
                    <a:ea typeface="SimHei" panose="02010609060101010101" pitchFamily="49" charset="-122"/>
                  </a:rPr>
                  <a:t>间的受激辐射可忽略不计）</a:t>
                </a: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23AF60B-B73E-35FD-6FBE-D7C13B653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86" y="4432165"/>
                <a:ext cx="11454714" cy="1754326"/>
              </a:xfrm>
              <a:prstGeom prst="rect">
                <a:avLst/>
              </a:prstGeom>
              <a:blipFill>
                <a:blip r:embed="rId2"/>
                <a:stretch>
                  <a:fillRect l="-443" t="-714" b="-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04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288</Words>
  <Application>Microsoft Macintosh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SimHei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Jianan DUAN</dc:creator>
  <cp:lastModifiedBy>Jianan DUAN</cp:lastModifiedBy>
  <cp:revision>4</cp:revision>
  <dcterms:created xsi:type="dcterms:W3CDTF">2022-09-15T06:04:56Z</dcterms:created>
  <dcterms:modified xsi:type="dcterms:W3CDTF">2024-11-20T15:15:19Z</dcterms:modified>
</cp:coreProperties>
</file>